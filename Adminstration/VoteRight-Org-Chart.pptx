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1732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100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code/artifact/3ae7ed9c-1835-4d87-91af-23d00acb32b3?via=auto_pre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laude.ai/code/artifact/80616555-afb9-4ad5-8fb3-a183c1582012?via=auto_preview" TargetMode="External"/><Relationship Id="rId4" Type="http://schemas.openxmlformats.org/officeDocument/2006/relationships/hyperlink" Target="https://claude.ai/code/artifact/bf679f98-3228-41f2-ace0-df711aebc472?via=auto_pre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82880"/>
            <a:ext cx="9144000" cy="38404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201F"/>
                </a:solidFill>
                <a:latin typeface="Georgia"/>
              </a:rPr>
              <a:t>VoteRight — Operating Org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749808"/>
            <a:ext cx="100584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445451"/>
                </a:solidFill>
              </a:rPr>
              <a:t>Reporting structure by department. Individual-contributor roles inside each department are detailed in the companion Operating Register.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14300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99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Executive Director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296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2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Data Operations
Director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977392" y="1691640"/>
            <a:ext cx="6109208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54784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8A5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Trust &amp; Safety
Director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22880" y="1691640"/>
            <a:ext cx="4363720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0272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Civic Process
Director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468368" y="1691640"/>
            <a:ext cx="2618232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45760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6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General Counsel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213856" y="1691640"/>
            <a:ext cx="872744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91248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19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Engineering Director
/ CTO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1691640"/>
            <a:ext cx="872744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36736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99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Director of Partnerships
&amp; Expansion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1691640"/>
            <a:ext cx="2618232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82224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99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Development
Director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1691640"/>
            <a:ext cx="4363720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427712" y="2331720"/>
            <a:ext cx="1536192" cy="621792"/>
          </a:xfrm>
          <a:prstGeom prst="roundRect">
            <a:avLst>
              <a:gd name="adj" fmla="val 8000"/>
            </a:avLst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1691640"/>
            <a:ext cx="6109208" cy="640080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8752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2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Data Ops Lead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7392" y="2953512"/>
            <a:ext cx="0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3032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+5 specialist roles:
Analyst, Position Coding,
Transparency, Research, QA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74240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8A5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T&amp;S Lead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22880" y="2953512"/>
            <a:ext cx="0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28520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+3 roles: Moderator,
Investigator, Security Analyst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9728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Civic Process Lead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68368" y="2953512"/>
            <a:ext cx="0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74008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+1 role: Coordinator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5216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6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(direct reports)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3856" y="2953512"/>
            <a:ext cx="0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19496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Privacy/Compliance Specialist,
Legal Research Analyst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10704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19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Engineering Lead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59344" y="2953512"/>
            <a:ext cx="0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64984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+5 roles: SWE, DevOps,
Data Eng, SecEng, SRE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Support Lead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829800" y="2953512"/>
            <a:ext cx="3366008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235440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+1 role: Support Specialist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69880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Comms Lead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1018520" y="2953512"/>
            <a:ext cx="2177288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424160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445451"/>
                </a:solidFill>
              </a:rPr>
              <a:t>+1 role: Comms Specialist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Operations Manager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2207240" y="2953512"/>
            <a:ext cx="988568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2847320" y="416052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HR Generalist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195808" y="2953512"/>
            <a:ext cx="200152" cy="1207008"/>
          </a:xfrm>
          <a:prstGeom prst="bentConnector3">
            <a:avLst/>
          </a:prstGeom>
          <a:ln w="15875">
            <a:solidFill>
              <a:srgbClr val="CC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57200" y="8001000"/>
            <a:ext cx="201168" cy="146304"/>
          </a:xfrm>
          <a:prstGeom prst="roundRect">
            <a:avLst/>
          </a:prstGeom>
          <a:solidFill>
            <a:srgbClr val="2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7946136"/>
            <a:ext cx="1773936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Data &amp; Editorial 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61487" y="8001000"/>
            <a:ext cx="201168" cy="146304"/>
          </a:xfrm>
          <a:prstGeom prst="roundRect">
            <a:avLst/>
          </a:prstGeom>
          <a:solidFill>
            <a:srgbClr val="8A5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17520" y="7946136"/>
            <a:ext cx="1269187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Trust &amp; Safety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61027" y="8001000"/>
            <a:ext cx="201168" cy="146304"/>
          </a:xfrm>
          <a:prstGeom prst="round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17059" y="7946136"/>
            <a:ext cx="1185062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Civic Process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76441" y="8001000"/>
            <a:ext cx="201168" cy="146304"/>
          </a:xfrm>
          <a:prstGeom prst="roundRect">
            <a:avLst/>
          </a:prstGeom>
          <a:solidFill>
            <a:srgbClr val="6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2473" y="7946136"/>
            <a:ext cx="1605686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Legal &amp; Compliance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8001000"/>
            <a:ext cx="201168" cy="146304"/>
          </a:xfrm>
          <a:prstGeom prst="roundRect">
            <a:avLst/>
          </a:prstGeom>
          <a:solidFill>
            <a:srgbClr val="19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68512" y="7946136"/>
            <a:ext cx="1016812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Engineering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59644" y="8001000"/>
            <a:ext cx="201168" cy="146304"/>
          </a:xfrm>
          <a:prstGeom prst="roundRect">
            <a:avLst/>
          </a:prstGeom>
          <a:solidFill>
            <a:srgbClr val="99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15676" y="7946136"/>
            <a:ext cx="1689811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Leadership/Strategy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179808" y="8001000"/>
            <a:ext cx="201168" cy="146304"/>
          </a:xfrm>
          <a:prstGeom prst="roundRect">
            <a:avLst/>
          </a:prstGeom>
          <a:solidFill>
            <a:srgbClr val="4A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2435840" y="7946136"/>
            <a:ext cx="1016812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900">
                <a:solidFill>
                  <a:srgbClr val="14201F"/>
                </a:solidFill>
              </a:rPr>
              <a:t>Support/Ops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>
            <a:extLst>
              <a:ext uri="{FF2B5EF4-FFF2-40B4-BE49-F238E27FC236}">
                <a16:creationId xmlns:a16="http://schemas.microsoft.com/office/drawing/2014/main" id="{19D46774-F737-03AC-B712-9FCB4B5CD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777240" cy="777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B4B4B3-15AF-34F3-137E-435C47E3E0D0}"/>
              </a:ext>
            </a:extLst>
          </p:cNvPr>
          <p:cNvSpPr txBox="1"/>
          <p:nvPr/>
        </p:nvSpPr>
        <p:spPr>
          <a:xfrm>
            <a:off x="457200" y="1193800"/>
            <a:ext cx="4165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hlinkClick r:id="rId3"/>
              </a:rPr>
              <a:t>The Operating Register </a:t>
            </a:r>
            <a:endParaRPr lang="en-US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DADCA9-C957-685B-70DF-CF1B4C25E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87239"/>
              </p:ext>
            </p:extLst>
          </p:nvPr>
        </p:nvGraphicFramePr>
        <p:xfrm>
          <a:off x="8572500" y="1201995"/>
          <a:ext cx="7772400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9883">
                  <a:extLst>
                    <a:ext uri="{9D8B030D-6E8A-4147-A177-3AD203B41FA5}">
                      <a16:colId xmlns:a16="http://schemas.microsoft.com/office/drawing/2014/main" val="2199693940"/>
                    </a:ext>
                  </a:extLst>
                </a:gridCol>
                <a:gridCol w="2782517">
                  <a:extLst>
                    <a:ext uri="{9D8B030D-6E8A-4147-A177-3AD203B41FA5}">
                      <a16:colId xmlns:a16="http://schemas.microsoft.com/office/drawing/2014/main" val="556298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hlinkClick r:id="rId4"/>
                        </a:rPr>
                        <a:t>Growth &amp; Funding Plan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782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7EDD6F-5962-F7B4-5A6E-D69B7813940A}"/>
              </a:ext>
            </a:extLst>
          </p:cNvPr>
          <p:cNvSpPr txBox="1"/>
          <p:nvPr/>
        </p:nvSpPr>
        <p:spPr>
          <a:xfrm>
            <a:off x="4938536" y="277591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hlinkClick r:id="rId5"/>
              </a:rPr>
              <a:t>Operations Manual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1598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176</Words>
  <Application>Microsoft Office PowerPoint</Application>
  <PresentationFormat>Custom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Pascal Passigan</cp:lastModifiedBy>
  <cp:revision>2</cp:revision>
  <dcterms:created xsi:type="dcterms:W3CDTF">2013-01-27T09:14:16Z</dcterms:created>
  <dcterms:modified xsi:type="dcterms:W3CDTF">2026-08-01T00:19:31Z</dcterms:modified>
  <cp:category/>
</cp:coreProperties>
</file>